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59" r:id="rId3"/>
    <p:sldId id="258" r:id="rId4"/>
    <p:sldId id="261" r:id="rId5"/>
    <p:sldId id="260" r:id="rId6"/>
    <p:sldId id="262" r:id="rId7"/>
    <p:sldId id="263" r:id="rId8"/>
    <p:sldId id="265" r:id="rId9"/>
    <p:sldId id="266" r:id="rId10"/>
    <p:sldId id="267" r:id="rId11"/>
    <p:sldId id="264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6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6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0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7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3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3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12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1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05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CC13DF-3612-4C36-B793-8689E63943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" t="7348" r="2113" b="7877"/>
          <a:stretch/>
        </p:blipFill>
        <p:spPr>
          <a:xfrm>
            <a:off x="129915" y="381079"/>
            <a:ext cx="11932170" cy="5861154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0FD1FA7-E056-4CC8-9603-8C74E44DD197}"/>
              </a:ext>
            </a:extLst>
          </p:cNvPr>
          <p:cNvSpPr/>
          <p:nvPr/>
        </p:nvSpPr>
        <p:spPr>
          <a:xfrm>
            <a:off x="3927422" y="5081666"/>
            <a:ext cx="4287187" cy="1160567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0274D0-4C6F-4308-90FB-1A9C001C2863}"/>
              </a:ext>
            </a:extLst>
          </p:cNvPr>
          <p:cNvSpPr txBox="1"/>
          <p:nvPr/>
        </p:nvSpPr>
        <p:spPr>
          <a:xfrm>
            <a:off x="3927422" y="5107951"/>
            <a:ext cx="368617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NOMBRE Y APELLIDO: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ES" sz="1100" dirty="0"/>
              <a:t>Jefferson  Segundo Diaz Pascual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PE" sz="1100" dirty="0"/>
              <a:t> Sandro Junior JESUS FRANCISCO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s-PE" sz="1100" dirty="0"/>
          </a:p>
          <a:p>
            <a:r>
              <a:rPr lang="es-PE" sz="1100" dirty="0"/>
              <a:t>INGENIERO: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PE" sz="1100" dirty="0"/>
              <a:t>GARCIA VILLEGAS CHRISTIAN</a:t>
            </a:r>
          </a:p>
          <a:p>
            <a:endParaRPr lang="es-PE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78E5621-38DD-4E38-BA07-16AB49307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495378"/>
            <a:ext cx="1714500" cy="17145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06D1DB-F18E-4F4B-ABAF-AF5453281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3162" y="615767"/>
            <a:ext cx="17145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3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7AE578-8DE8-4EF0-9EF9-BFE66784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0159"/>
            <a:ext cx="12734927" cy="79593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6423FEC-4570-407D-A1BC-A7ABC8FB6EB0}"/>
              </a:ext>
            </a:extLst>
          </p:cNvPr>
          <p:cNvSpPr txBox="1"/>
          <p:nvPr/>
        </p:nvSpPr>
        <p:spPr>
          <a:xfrm>
            <a:off x="414338" y="-128588"/>
            <a:ext cx="4672012" cy="77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indent="-6350">
              <a:lnSpc>
                <a:spcPct val="107000"/>
              </a:lnSpc>
              <a:spcAft>
                <a:spcPts val="710"/>
              </a:spcAft>
              <a:tabLst>
                <a:tab pos="424180" algn="ctr"/>
                <a:tab pos="1301115" algn="ctr"/>
              </a:tabLst>
            </a:pPr>
            <a:r>
              <a:rPr lang="es-PE" sz="4400" b="1" dirty="0">
                <a:solidFill>
                  <a:srgbClr val="000000"/>
                </a:solidFill>
                <a:effectLst/>
                <a:latin typeface="Aldhabi" panose="020B0604020202020204" pitchFamily="2" charset="-78"/>
                <a:ea typeface="Times New Roman" panose="02020603050405020304" pitchFamily="18" charset="0"/>
                <a:cs typeface="Aldhabi" panose="020B0604020202020204" pitchFamily="2" charset="-78"/>
              </a:rPr>
              <a:t>Operadores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DB1080-4CA7-48D8-83A1-1F12339E4FAF}"/>
              </a:ext>
            </a:extLst>
          </p:cNvPr>
          <p:cNvSpPr txBox="1"/>
          <p:nvPr/>
        </p:nvSpPr>
        <p:spPr>
          <a:xfrm>
            <a:off x="414338" y="645278"/>
            <a:ext cx="6415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Los operadores son elementos que disparan ciertos cálculos cuando son aplicados a variables u otros objetos en una expresión. Primero revisemos algunas definiciones importantes: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3161478-BCCB-4308-B9D9-FF800EEFFF11}"/>
              </a:ext>
            </a:extLst>
          </p:cNvPr>
          <p:cNvSpPr txBox="1"/>
          <p:nvPr/>
        </p:nvSpPr>
        <p:spPr>
          <a:xfrm>
            <a:off x="414337" y="2034380"/>
            <a:ext cx="65865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 Operando: </a:t>
            </a:r>
            <a:r>
              <a:rPr lang="es-ES" dirty="0">
                <a:solidFill>
                  <a:schemeClr val="bg1"/>
                </a:solidFill>
              </a:rPr>
              <a:t>cada una de las cantidades, constantes o variables o expresiones que intervienen en una expresión</a:t>
            </a:r>
            <a:r>
              <a:rPr lang="es-E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  Expresión: </a:t>
            </a:r>
            <a:r>
              <a:rPr lang="es-ES" dirty="0">
                <a:solidFill>
                  <a:schemeClr val="bg1"/>
                </a:solidFill>
              </a:rPr>
              <a:t>según el diccionario, “Conjunto de términos que representan una cantidad”, entre nosotros es cualquier conjunto de operadores y operandos, que dan como resultado una cantidad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E20F2B-22F2-4C44-A501-5B6BB22EF5A9}"/>
              </a:ext>
            </a:extLst>
          </p:cNvPr>
          <p:cNvSpPr txBox="1"/>
          <p:nvPr/>
        </p:nvSpPr>
        <p:spPr>
          <a:xfrm>
            <a:off x="716692" y="4250724"/>
            <a:ext cx="4942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Existe una división en los operadores atendiendo al número de operandos que afectan (unitarios, binarios o ternarios).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635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8703E29E-2D5B-4474-A36B-C726E80C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F065720-C6D4-4DF3-9191-96D09DE69551}"/>
              </a:ext>
            </a:extLst>
          </p:cNvPr>
          <p:cNvSpPr txBox="1"/>
          <p:nvPr/>
        </p:nvSpPr>
        <p:spPr>
          <a:xfrm>
            <a:off x="328613" y="3429000"/>
            <a:ext cx="26431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Son usados para crear expresiones matemáticas. Existen dos operadores aritméticos unitarios + y -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75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9AB3AFE-1AA9-4B71-B4C5-94D5FE3EA5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0" t="-48" b="8467"/>
          <a:stretch/>
        </p:blipFill>
        <p:spPr>
          <a:xfrm>
            <a:off x="149707" y="376489"/>
            <a:ext cx="11892586" cy="633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18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07E9743-D348-4B81-96AD-CA42CC3AD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7F0DB0C-2DEE-404E-8DDB-E8EF3171183A}"/>
              </a:ext>
            </a:extLst>
          </p:cNvPr>
          <p:cNvSpPr txBox="1"/>
          <p:nvPr/>
        </p:nvSpPr>
        <p:spPr>
          <a:xfrm>
            <a:off x="357188" y="2771775"/>
            <a:ext cx="26289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>
                <a:solidFill>
                  <a:schemeClr val="bg1"/>
                </a:solidFill>
              </a:rPr>
              <a:t>Una expresión lógica es aquella que produce un resultado de verdadero o falso. Se puede construir una expresión lógica simple utilizando un literal de tipo lógico, es decir, true o false, o combinado dos expresiones aritméticas mediante un operador relacional. Los principales operadores relacionales de C++ son:</a:t>
            </a:r>
            <a:endParaRPr lang="es-P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9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8DCA68-AEC5-457F-9017-6F18F6CE57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90"/>
          <a:stretch/>
        </p:blipFill>
        <p:spPr>
          <a:xfrm>
            <a:off x="376090" y="285809"/>
            <a:ext cx="11439819" cy="604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95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074A5E-12B5-4FF6-86A3-7C74F34C1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FD8C126-1EB6-484A-9895-D5D28C045935}"/>
              </a:ext>
            </a:extLst>
          </p:cNvPr>
          <p:cNvSpPr txBox="1"/>
          <p:nvPr/>
        </p:nvSpPr>
        <p:spPr>
          <a:xfrm>
            <a:off x="9330700" y="3337838"/>
            <a:ext cx="274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Una expresión lógica compuesta es aquella formada por expresiones lógicas combinadas mediante operadores lógicos.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FA92A0-A270-4E31-437A-78BFD652A7AA}"/>
              </a:ext>
            </a:extLst>
          </p:cNvPr>
          <p:cNvSpPr txBox="1"/>
          <p:nvPr/>
        </p:nvSpPr>
        <p:spPr>
          <a:xfrm>
            <a:off x="3132741" y="3153172"/>
            <a:ext cx="629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Los principales operadores lógicos de C++ son: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88BFAB-94E5-95C6-2E07-827F4A6352EE}"/>
              </a:ext>
            </a:extLst>
          </p:cNvPr>
          <p:cNvSpPr txBox="1"/>
          <p:nvPr/>
        </p:nvSpPr>
        <p:spPr>
          <a:xfrm>
            <a:off x="619544" y="3568670"/>
            <a:ext cx="22602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Una expresión lógica es aquella que produce un resultado de verdadero o falso.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AF38D7C-3E31-242E-4B47-72AD9E831F40}"/>
              </a:ext>
            </a:extLst>
          </p:cNvPr>
          <p:cNvSpPr txBox="1"/>
          <p:nvPr/>
        </p:nvSpPr>
        <p:spPr>
          <a:xfrm>
            <a:off x="3031500" y="5604913"/>
            <a:ext cx="629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Se recomienda emplear paréntesis en las expresiones lógicas compuestas, con el fin de separar e</a:t>
            </a:r>
          </a:p>
          <a:p>
            <a:r>
              <a:rPr lang="es-ES" dirty="0">
                <a:solidFill>
                  <a:schemeClr val="bg1"/>
                </a:solidFill>
              </a:rPr>
              <a:t>identificar cada una de las expresiones lógicas simples.</a:t>
            </a:r>
          </a:p>
        </p:txBody>
      </p:sp>
    </p:spTree>
    <p:extLst>
      <p:ext uri="{BB962C8B-B14F-4D97-AF65-F5344CB8AC3E}">
        <p14:creationId xmlns:p14="http://schemas.microsoft.com/office/powerpoint/2010/main" val="381101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59802A5-319F-B87F-E8BB-80C4DB2BF36F}"/>
              </a:ext>
            </a:extLst>
          </p:cNvPr>
          <p:cNvSpPr txBox="1"/>
          <p:nvPr/>
        </p:nvSpPr>
        <p:spPr>
          <a:xfrm>
            <a:off x="764987" y="298823"/>
            <a:ext cx="24144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Verifica si un número es mayor que 0 y menor que 10.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80E4FC-720A-1216-2AA7-AEAA6188C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894" y="160142"/>
            <a:ext cx="8128000" cy="335822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1CF1CD5-D702-C861-0D68-23FB502F8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894" y="3720427"/>
            <a:ext cx="8128000" cy="297743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95AD288-CF52-3D53-1D35-D673EB4CF5F8}"/>
              </a:ext>
            </a:extLst>
          </p:cNvPr>
          <p:cNvSpPr txBox="1"/>
          <p:nvPr/>
        </p:nvSpPr>
        <p:spPr>
          <a:xfrm>
            <a:off x="585693" y="4224530"/>
            <a:ext cx="34065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Determina si una persona puede entrar: debe ser mayor de edad y tener invitación.</a:t>
            </a:r>
          </a:p>
        </p:txBody>
      </p:sp>
    </p:spTree>
    <p:extLst>
      <p:ext uri="{BB962C8B-B14F-4D97-AF65-F5344CB8AC3E}">
        <p14:creationId xmlns:p14="http://schemas.microsoft.com/office/powerpoint/2010/main" val="3822558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D0BCFFC-1740-E478-37A8-91E2B2CD2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894" y="447304"/>
            <a:ext cx="8128000" cy="271450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B771475-352A-7F42-95E6-EA3B3CEA9396}"/>
              </a:ext>
            </a:extLst>
          </p:cNvPr>
          <p:cNvSpPr txBox="1"/>
          <p:nvPr/>
        </p:nvSpPr>
        <p:spPr>
          <a:xfrm>
            <a:off x="227106" y="604227"/>
            <a:ext cx="32033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Comprueba si un número es negativo o igual a cero.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E53A31-F64F-42C3-E915-55CFD59F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847" y="3429000"/>
            <a:ext cx="8128000" cy="296551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867536-D5E2-9985-D9AF-D0E0A503C6C5}"/>
              </a:ext>
            </a:extLst>
          </p:cNvPr>
          <p:cNvSpPr txBox="1"/>
          <p:nvPr/>
        </p:nvSpPr>
        <p:spPr>
          <a:xfrm>
            <a:off x="227106" y="4111377"/>
            <a:ext cx="37532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Evalúa si un estudiante aprueba si pasa el examen o el proyecto.</a:t>
            </a:r>
          </a:p>
        </p:txBody>
      </p:sp>
    </p:spTree>
    <p:extLst>
      <p:ext uri="{BB962C8B-B14F-4D97-AF65-F5344CB8AC3E}">
        <p14:creationId xmlns:p14="http://schemas.microsoft.com/office/powerpoint/2010/main" val="3677985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31F22F0-ECAA-7F72-DD66-BAB768D3D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177" y="441278"/>
            <a:ext cx="8128000" cy="27481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DC0AEEE-C1E8-E979-B36C-C58C41C6BEFD}"/>
              </a:ext>
            </a:extLst>
          </p:cNvPr>
          <p:cNvSpPr txBox="1"/>
          <p:nvPr/>
        </p:nvSpPr>
        <p:spPr>
          <a:xfrm>
            <a:off x="298823" y="795475"/>
            <a:ext cx="30240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Invierte el estado de una lámpara apagada.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81100E-FA5B-DC5D-29F0-18961A213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177" y="3429000"/>
            <a:ext cx="8128000" cy="277920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6F4AC3B-8FAE-68BB-1BCA-599A1976EF40}"/>
              </a:ext>
            </a:extLst>
          </p:cNvPr>
          <p:cNvSpPr txBox="1"/>
          <p:nvPr/>
        </p:nvSpPr>
        <p:spPr>
          <a:xfrm>
            <a:off x="352611" y="4379773"/>
            <a:ext cx="25101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Comprueba si un número no es igual a 10.</a:t>
            </a:r>
          </a:p>
        </p:txBody>
      </p:sp>
    </p:spTree>
    <p:extLst>
      <p:ext uri="{BB962C8B-B14F-4D97-AF65-F5344CB8AC3E}">
        <p14:creationId xmlns:p14="http://schemas.microsoft.com/office/powerpoint/2010/main" val="385425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0E8A57-E173-42C5-877C-2B926D57EF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4" r="1394" b="10362"/>
          <a:stretch/>
        </p:blipFill>
        <p:spPr>
          <a:xfrm>
            <a:off x="114924" y="371343"/>
            <a:ext cx="11962151" cy="611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901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209</Words>
  <Application>Microsoft Office PowerPoint</Application>
  <PresentationFormat>Panorámica</PresentationFormat>
  <Paragraphs>14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VanillaVTI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Jeferson Jeronimo Encarnación - Est. Agronomia</dc:creator>
  <cp:lastModifiedBy>SANDRO JUNIOR JESUS FRANCISCO-ING. DE INFORMATICA Y SISTEMAS</cp:lastModifiedBy>
  <cp:revision>3</cp:revision>
  <dcterms:created xsi:type="dcterms:W3CDTF">2026-01-19T19:19:57Z</dcterms:created>
  <dcterms:modified xsi:type="dcterms:W3CDTF">2026-01-21T08:48:02Z</dcterms:modified>
</cp:coreProperties>
</file>